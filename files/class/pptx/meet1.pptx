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Roca Two" charset="1" panose="00000500000000000000"/>
      <p:regular r:id="rId10"/>
    </p:embeddedFont>
    <p:embeddedFont>
      <p:font typeface="Be Vietnam Ultra-Bold" charset="1" panose="00000900000000000000"/>
      <p:regular r:id="rId11"/>
    </p:embeddedFont>
    <p:embeddedFont>
      <p:font typeface="Roca Two Bold" charset="1" panose="00000800000000000000"/>
      <p:regular r:id="rId12"/>
    </p:embeddedFont>
    <p:embeddedFont>
      <p:font typeface="Be Vietnam" charset="1" panose="000005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11" r="0" b="-8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67335" y="862388"/>
            <a:ext cx="1724962" cy="1724962"/>
          </a:xfrm>
          <a:custGeom>
            <a:avLst/>
            <a:gdLst/>
            <a:ahLst/>
            <a:cxnLst/>
            <a:rect r="r" b="b" t="t" l="l"/>
            <a:pathLst>
              <a:path h="1724962" w="1724962">
                <a:moveTo>
                  <a:pt x="0" y="0"/>
                </a:moveTo>
                <a:lnTo>
                  <a:pt x="1724962" y="0"/>
                </a:lnTo>
                <a:lnTo>
                  <a:pt x="1724962" y="1724962"/>
                </a:lnTo>
                <a:lnTo>
                  <a:pt x="0" y="172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5018" y="7760342"/>
            <a:ext cx="2267675" cy="2057400"/>
          </a:xfrm>
          <a:custGeom>
            <a:avLst/>
            <a:gdLst/>
            <a:ahLst/>
            <a:cxnLst/>
            <a:rect r="r" b="b" t="t" l="l"/>
            <a:pathLst>
              <a:path h="2057400" w="2267675">
                <a:moveTo>
                  <a:pt x="0" y="0"/>
                </a:moveTo>
                <a:lnTo>
                  <a:pt x="2267675" y="0"/>
                </a:lnTo>
                <a:lnTo>
                  <a:pt x="2267675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37007" y="7411923"/>
            <a:ext cx="1220428" cy="1071758"/>
          </a:xfrm>
          <a:custGeom>
            <a:avLst/>
            <a:gdLst/>
            <a:ahLst/>
            <a:cxnLst/>
            <a:rect r="r" b="b" t="t" l="l"/>
            <a:pathLst>
              <a:path h="1071758" w="1220428">
                <a:moveTo>
                  <a:pt x="0" y="0"/>
                </a:moveTo>
                <a:lnTo>
                  <a:pt x="1220427" y="0"/>
                </a:lnTo>
                <a:lnTo>
                  <a:pt x="1220427" y="1071758"/>
                </a:lnTo>
                <a:lnTo>
                  <a:pt x="0" y="10717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78766" y="1968649"/>
            <a:ext cx="1286524" cy="1237402"/>
          </a:xfrm>
          <a:custGeom>
            <a:avLst/>
            <a:gdLst/>
            <a:ahLst/>
            <a:cxnLst/>
            <a:rect r="r" b="b" t="t" l="l"/>
            <a:pathLst>
              <a:path h="1237402" w="1286524">
                <a:moveTo>
                  <a:pt x="0" y="0"/>
                </a:moveTo>
                <a:lnTo>
                  <a:pt x="1286524" y="0"/>
                </a:lnTo>
                <a:lnTo>
                  <a:pt x="1286524" y="1237402"/>
                </a:lnTo>
                <a:lnTo>
                  <a:pt x="0" y="12374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36252" y="8882509"/>
            <a:ext cx="1215496" cy="751582"/>
          </a:xfrm>
          <a:custGeom>
            <a:avLst/>
            <a:gdLst/>
            <a:ahLst/>
            <a:cxnLst/>
            <a:rect r="r" b="b" t="t" l="l"/>
            <a:pathLst>
              <a:path h="751582" w="1215496">
                <a:moveTo>
                  <a:pt x="0" y="0"/>
                </a:moveTo>
                <a:lnTo>
                  <a:pt x="1215496" y="0"/>
                </a:lnTo>
                <a:lnTo>
                  <a:pt x="1215496" y="751582"/>
                </a:lnTo>
                <a:lnTo>
                  <a:pt x="0" y="7515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84428" y="4580677"/>
            <a:ext cx="13519144" cy="172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99"/>
              </a:lnSpc>
            </a:pPr>
            <a:r>
              <a:rPr lang="en-US" sz="12999">
                <a:solidFill>
                  <a:srgbClr val="4CA1C9"/>
                </a:solidFill>
                <a:latin typeface="Roca Two"/>
                <a:ea typeface="Roca Two"/>
                <a:cs typeface="Roca Two"/>
                <a:sym typeface="Roca Two"/>
              </a:rPr>
              <a:t>Laravel 11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57434" y="6074832"/>
            <a:ext cx="1217313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48">
                <a:solidFill>
                  <a:srgbClr val="4CA1C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PERTEMUAN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22849" y="1227106"/>
            <a:ext cx="6842303" cy="49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64"/>
              </a:lnSpc>
              <a:spcBef>
                <a:spcPct val="0"/>
              </a:spcBef>
            </a:pPr>
            <a:r>
              <a:rPr lang="en-US" b="true" sz="2903">
                <a:solidFill>
                  <a:srgbClr val="4CA1C9"/>
                </a:solidFill>
                <a:latin typeface="Roca Two Bold"/>
                <a:ea typeface="Roca Two Bold"/>
                <a:cs typeface="Roca Two Bold"/>
                <a:sym typeface="Roca Two Bold"/>
              </a:rPr>
              <a:t>LARAVEL KNOWLEDGES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11" r="0" b="-8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865764"/>
            <a:ext cx="1402738" cy="1392536"/>
          </a:xfrm>
          <a:custGeom>
            <a:avLst/>
            <a:gdLst/>
            <a:ahLst/>
            <a:cxnLst/>
            <a:rect r="r" b="b" t="t" l="l"/>
            <a:pathLst>
              <a:path h="1392536" w="1402738">
                <a:moveTo>
                  <a:pt x="0" y="0"/>
                </a:moveTo>
                <a:lnTo>
                  <a:pt x="1402738" y="0"/>
                </a:lnTo>
                <a:lnTo>
                  <a:pt x="1402738" y="1392536"/>
                </a:lnTo>
                <a:lnTo>
                  <a:pt x="0" y="139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32654" y="7865764"/>
            <a:ext cx="1276069" cy="1392536"/>
          </a:xfrm>
          <a:custGeom>
            <a:avLst/>
            <a:gdLst/>
            <a:ahLst/>
            <a:cxnLst/>
            <a:rect r="r" b="b" t="t" l="l"/>
            <a:pathLst>
              <a:path h="1392536" w="1276069">
                <a:moveTo>
                  <a:pt x="0" y="0"/>
                </a:moveTo>
                <a:lnTo>
                  <a:pt x="1276070" y="0"/>
                </a:lnTo>
                <a:lnTo>
                  <a:pt x="1276070" y="1392536"/>
                </a:lnTo>
                <a:lnTo>
                  <a:pt x="0" y="13925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08774" y="7865764"/>
            <a:ext cx="1384940" cy="1392536"/>
          </a:xfrm>
          <a:custGeom>
            <a:avLst/>
            <a:gdLst/>
            <a:ahLst/>
            <a:cxnLst/>
            <a:rect r="r" b="b" t="t" l="l"/>
            <a:pathLst>
              <a:path h="1392536" w="1384940">
                <a:moveTo>
                  <a:pt x="0" y="0"/>
                </a:moveTo>
                <a:lnTo>
                  <a:pt x="1384940" y="0"/>
                </a:lnTo>
                <a:lnTo>
                  <a:pt x="1384940" y="1392536"/>
                </a:lnTo>
                <a:lnTo>
                  <a:pt x="0" y="13925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808976"/>
            <a:ext cx="7778086" cy="252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0"/>
              </a:lnSpc>
            </a:pPr>
            <a:r>
              <a:rPr lang="en-US" sz="8325">
                <a:solidFill>
                  <a:srgbClr val="4CA1C9"/>
                </a:solidFill>
                <a:latin typeface="Roca Two"/>
                <a:ea typeface="Roca Two"/>
                <a:cs typeface="Roca Two"/>
                <a:sym typeface="Roca Two"/>
              </a:rPr>
              <a:t>Yang Akan</a:t>
            </a:r>
          </a:p>
          <a:p>
            <a:pPr algn="l" marL="0" indent="0" lvl="0">
              <a:lnSpc>
                <a:spcPts val="9990"/>
              </a:lnSpc>
            </a:pPr>
            <a:r>
              <a:rPr lang="en-US" sz="8325">
                <a:solidFill>
                  <a:srgbClr val="4CA1C9"/>
                </a:solidFill>
                <a:latin typeface="Roca Two"/>
                <a:ea typeface="Roca Two"/>
                <a:cs typeface="Roca Two"/>
                <a:sym typeface="Roca Two"/>
              </a:rPr>
              <a:t>Dipelajari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67040" y="4158792"/>
            <a:ext cx="7294082" cy="1771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b="true" sz="3399" spc="33">
                <a:solidFill>
                  <a:srgbClr val="4CA1C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Struktur Folder</a:t>
            </a:r>
          </a:p>
          <a:p>
            <a:pPr algn="l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b="true" sz="3399" spc="33">
                <a:solidFill>
                  <a:srgbClr val="4CA1C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Konsep MVC</a:t>
            </a:r>
          </a:p>
          <a:p>
            <a:pPr algn="l" marL="734053" indent="-367026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33">
                <a:solidFill>
                  <a:srgbClr val="4CA1C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Contoh MVC di Laravel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02106" y="652909"/>
            <a:ext cx="1215496" cy="751582"/>
          </a:xfrm>
          <a:custGeom>
            <a:avLst/>
            <a:gdLst/>
            <a:ahLst/>
            <a:cxnLst/>
            <a:rect r="r" b="b" t="t" l="l"/>
            <a:pathLst>
              <a:path h="751582" w="1215496">
                <a:moveTo>
                  <a:pt x="0" y="0"/>
                </a:moveTo>
                <a:lnTo>
                  <a:pt x="1215497" y="0"/>
                </a:lnTo>
                <a:lnTo>
                  <a:pt x="1215497" y="751582"/>
                </a:lnTo>
                <a:lnTo>
                  <a:pt x="0" y="7515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05964" y="831572"/>
            <a:ext cx="4853336" cy="35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4"/>
              </a:lnSpc>
              <a:spcBef>
                <a:spcPct val="0"/>
              </a:spcBef>
            </a:pPr>
            <a:r>
              <a:rPr lang="en-US" b="true" sz="2103">
                <a:solidFill>
                  <a:srgbClr val="4CA1C9"/>
                </a:solidFill>
                <a:latin typeface="Roca Two Bold"/>
                <a:ea typeface="Roca Two Bold"/>
                <a:cs typeface="Roca Two Bold"/>
                <a:sym typeface="Roca Two Bold"/>
              </a:rPr>
              <a:t>LARAVEL KNOWLEDGES - MEET 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11" r="0" b="-811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9567040" y="1619396"/>
            <a:ext cx="7692260" cy="0"/>
          </a:xfrm>
          <a:prstGeom prst="line">
            <a:avLst/>
          </a:prstGeom>
          <a:ln cap="flat" w="38100">
            <a:solidFill>
              <a:srgbClr val="106B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865764"/>
            <a:ext cx="1402738" cy="1392536"/>
          </a:xfrm>
          <a:custGeom>
            <a:avLst/>
            <a:gdLst/>
            <a:ahLst/>
            <a:cxnLst/>
            <a:rect r="r" b="b" t="t" l="l"/>
            <a:pathLst>
              <a:path h="1392536" w="1402738">
                <a:moveTo>
                  <a:pt x="0" y="0"/>
                </a:moveTo>
                <a:lnTo>
                  <a:pt x="1402738" y="0"/>
                </a:lnTo>
                <a:lnTo>
                  <a:pt x="1402738" y="1392536"/>
                </a:lnTo>
                <a:lnTo>
                  <a:pt x="0" y="139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32654" y="7865764"/>
            <a:ext cx="1276069" cy="1392536"/>
          </a:xfrm>
          <a:custGeom>
            <a:avLst/>
            <a:gdLst/>
            <a:ahLst/>
            <a:cxnLst/>
            <a:rect r="r" b="b" t="t" l="l"/>
            <a:pathLst>
              <a:path h="1392536" w="1276069">
                <a:moveTo>
                  <a:pt x="0" y="0"/>
                </a:moveTo>
                <a:lnTo>
                  <a:pt x="1276070" y="0"/>
                </a:lnTo>
                <a:lnTo>
                  <a:pt x="1276070" y="1392536"/>
                </a:lnTo>
                <a:lnTo>
                  <a:pt x="0" y="13925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08774" y="7865764"/>
            <a:ext cx="1384940" cy="1392536"/>
          </a:xfrm>
          <a:custGeom>
            <a:avLst/>
            <a:gdLst/>
            <a:ahLst/>
            <a:cxnLst/>
            <a:rect r="r" b="b" t="t" l="l"/>
            <a:pathLst>
              <a:path h="1392536" w="1384940">
                <a:moveTo>
                  <a:pt x="0" y="0"/>
                </a:moveTo>
                <a:lnTo>
                  <a:pt x="1384940" y="0"/>
                </a:lnTo>
                <a:lnTo>
                  <a:pt x="1384940" y="1392536"/>
                </a:lnTo>
                <a:lnTo>
                  <a:pt x="0" y="13925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2106" y="652909"/>
            <a:ext cx="1215496" cy="751582"/>
          </a:xfrm>
          <a:custGeom>
            <a:avLst/>
            <a:gdLst/>
            <a:ahLst/>
            <a:cxnLst/>
            <a:rect r="r" b="b" t="t" l="l"/>
            <a:pathLst>
              <a:path h="751582" w="1215496">
                <a:moveTo>
                  <a:pt x="0" y="0"/>
                </a:moveTo>
                <a:lnTo>
                  <a:pt x="1215497" y="0"/>
                </a:lnTo>
                <a:lnTo>
                  <a:pt x="1215497" y="751582"/>
                </a:lnTo>
                <a:lnTo>
                  <a:pt x="0" y="7515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67040" y="7430381"/>
            <a:ext cx="3515213" cy="2207622"/>
          </a:xfrm>
          <a:custGeom>
            <a:avLst/>
            <a:gdLst/>
            <a:ahLst/>
            <a:cxnLst/>
            <a:rect r="r" b="b" t="t" l="l"/>
            <a:pathLst>
              <a:path h="2207622" w="3515213">
                <a:moveTo>
                  <a:pt x="0" y="0"/>
                </a:moveTo>
                <a:lnTo>
                  <a:pt x="3515213" y="0"/>
                </a:lnTo>
                <a:lnTo>
                  <a:pt x="3515213" y="2207622"/>
                </a:lnTo>
                <a:lnTo>
                  <a:pt x="0" y="22076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3808976"/>
            <a:ext cx="7778086" cy="252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0"/>
              </a:lnSpc>
            </a:pPr>
            <a:r>
              <a:rPr lang="en-US" sz="8325">
                <a:solidFill>
                  <a:srgbClr val="4CA1C9"/>
                </a:solidFill>
                <a:latin typeface="Roca Two"/>
                <a:ea typeface="Roca Two"/>
                <a:cs typeface="Roca Two"/>
                <a:sym typeface="Roca Two"/>
              </a:rPr>
              <a:t>Struktur</a:t>
            </a:r>
          </a:p>
          <a:p>
            <a:pPr algn="l" marL="0" indent="0" lvl="0">
              <a:lnSpc>
                <a:spcPts val="9990"/>
              </a:lnSpc>
            </a:pPr>
            <a:r>
              <a:rPr lang="en-US" sz="8325">
                <a:solidFill>
                  <a:srgbClr val="4CA1C9"/>
                </a:solidFill>
                <a:latin typeface="Roca Two"/>
                <a:ea typeface="Roca Two"/>
                <a:cs typeface="Roca Two"/>
                <a:sym typeface="Roca Two"/>
              </a:rPr>
              <a:t>Folder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67040" y="2340221"/>
            <a:ext cx="7294082" cy="468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1799" spc="35">
                <a:solidFill>
                  <a:srgbClr val="4CA1C9"/>
                </a:solidFill>
                <a:latin typeface="Be Vietnam"/>
                <a:ea typeface="Be Vietnam"/>
                <a:cs typeface="Be Vietnam"/>
                <a:sym typeface="Be Vietnam"/>
              </a:rPr>
              <a:t>Struktur folder dari Laravel ini terbilang cukup rumit, Tapi kita bisa kelompokkan ke beberapa folder, misalnya kayak gini:</a:t>
            </a:r>
          </a:p>
          <a:p>
            <a:pPr algn="l">
              <a:lnSpc>
                <a:spcPts val="2879"/>
              </a:lnSpc>
            </a:pPr>
          </a:p>
          <a:p>
            <a:pPr algn="l" marL="388618" indent="-194309" lvl="1">
              <a:lnSpc>
                <a:spcPts val="2879"/>
              </a:lnSpc>
              <a:buAutoNum type="arabicPeriod" startAt="1"/>
            </a:pPr>
            <a:r>
              <a:rPr lang="en-US" b="true" sz="1799" spc="35">
                <a:solidFill>
                  <a:srgbClr val="4CA1C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Folder App</a:t>
            </a:r>
          </a:p>
          <a:p>
            <a:pPr algn="l" marL="388618" indent="-194309" lvl="1">
              <a:lnSpc>
                <a:spcPts val="2879"/>
              </a:lnSpc>
              <a:buAutoNum type="arabicPeriod" startAt="1"/>
            </a:pPr>
            <a:r>
              <a:rPr lang="en-US" b="true" sz="1799" spc="35">
                <a:solidFill>
                  <a:srgbClr val="4CA1C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Folder Database</a:t>
            </a:r>
          </a:p>
          <a:p>
            <a:pPr algn="l" marL="388618" indent="-194309" lvl="1">
              <a:lnSpc>
                <a:spcPts val="2879"/>
              </a:lnSpc>
              <a:buAutoNum type="arabicPeriod" startAt="1"/>
            </a:pPr>
            <a:r>
              <a:rPr lang="en-US" b="true" sz="1799" spc="35">
                <a:solidFill>
                  <a:srgbClr val="4CA1C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Folder Public</a:t>
            </a:r>
          </a:p>
          <a:p>
            <a:pPr algn="l" marL="388618" indent="-194309" lvl="1">
              <a:lnSpc>
                <a:spcPts val="2879"/>
              </a:lnSpc>
              <a:buAutoNum type="arabicPeriod" startAt="1"/>
            </a:pPr>
            <a:r>
              <a:rPr lang="en-US" b="true" sz="1799" spc="35">
                <a:solidFill>
                  <a:srgbClr val="4CA1C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Folder Resources</a:t>
            </a:r>
          </a:p>
          <a:p>
            <a:pPr algn="l" marL="388618" indent="-194309" lvl="1">
              <a:lnSpc>
                <a:spcPts val="2879"/>
              </a:lnSpc>
              <a:buAutoNum type="arabicPeriod" startAt="1"/>
            </a:pPr>
            <a:r>
              <a:rPr lang="en-US" b="true" sz="1799" spc="35">
                <a:solidFill>
                  <a:srgbClr val="4CA1C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Folder Routes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1799" spc="35">
                <a:solidFill>
                  <a:srgbClr val="4CA1C9"/>
                </a:solidFill>
                <a:latin typeface="Be Vietnam"/>
                <a:ea typeface="Be Vietnam"/>
                <a:cs typeface="Be Vietnam"/>
                <a:sym typeface="Be Vietnam"/>
              </a:rPr>
              <a:t>Folder </a:t>
            </a:r>
            <a:r>
              <a:rPr lang="en-US" sz="1799" spc="35" b="true">
                <a:solidFill>
                  <a:srgbClr val="4CA1C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App</a:t>
            </a:r>
            <a:r>
              <a:rPr lang="en-US" sz="1799" spc="35">
                <a:solidFill>
                  <a:srgbClr val="4CA1C9"/>
                </a:solidFill>
                <a:latin typeface="Be Vietnam"/>
                <a:ea typeface="Be Vietnam"/>
                <a:cs typeface="Be Vietnam"/>
                <a:sym typeface="Be Vietnam"/>
              </a:rPr>
              <a:t> ini ada beberapa folder, tapi yang biasa kita pake cuma folder </a:t>
            </a:r>
            <a:r>
              <a:rPr lang="en-US" sz="1799" spc="35" b="true">
                <a:solidFill>
                  <a:srgbClr val="4CA1C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Http</a:t>
            </a:r>
            <a:r>
              <a:rPr lang="en-US" sz="1799" spc="35">
                <a:solidFill>
                  <a:srgbClr val="4CA1C9"/>
                </a:solidFill>
                <a:latin typeface="Be Vietnam"/>
                <a:ea typeface="Be Vietnam"/>
                <a:cs typeface="Be Vietnam"/>
                <a:sym typeface="Be Vietnam"/>
              </a:rPr>
              <a:t>, yang di dalamnya ada folder </a:t>
            </a:r>
            <a:r>
              <a:rPr lang="en-US" sz="1799" spc="35" b="true">
                <a:solidFill>
                  <a:srgbClr val="4CA1C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Controllers</a:t>
            </a:r>
            <a:r>
              <a:rPr lang="en-US" sz="1799" spc="35">
                <a:solidFill>
                  <a:srgbClr val="4CA1C9"/>
                </a:solidFill>
                <a:latin typeface="Be Vietnam"/>
                <a:ea typeface="Be Vietnam"/>
                <a:cs typeface="Be Vietnam"/>
                <a:sym typeface="Be Vietnam"/>
              </a:rPr>
              <a:t>. Di folder ini, ada file default yang bernama </a:t>
            </a:r>
            <a:r>
              <a:rPr lang="en-US" sz="1799" spc="35" b="true">
                <a:solidFill>
                  <a:srgbClr val="4CA1C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Controller.php</a:t>
            </a:r>
            <a:r>
              <a:rPr lang="en-US" sz="1799" spc="35">
                <a:solidFill>
                  <a:srgbClr val="4CA1C9"/>
                </a:solidFill>
                <a:latin typeface="Be Vietnam"/>
                <a:ea typeface="Be Vietnam"/>
                <a:cs typeface="Be Vietnam"/>
                <a:sym typeface="Be Vietnam"/>
              </a:rPr>
              <a:t>. Folder ini jarang dipake, tapi sering dipanggil di file controller lain.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05964" y="831572"/>
            <a:ext cx="4853336" cy="35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4"/>
              </a:lnSpc>
              <a:spcBef>
                <a:spcPct val="0"/>
              </a:spcBef>
            </a:pPr>
            <a:r>
              <a:rPr lang="en-US" b="true" sz="2103">
                <a:solidFill>
                  <a:srgbClr val="4CA1C9"/>
                </a:solidFill>
                <a:latin typeface="Roca Two Bold"/>
                <a:ea typeface="Roca Two Bold"/>
                <a:cs typeface="Roca Two Bold"/>
                <a:sym typeface="Roca Two Bold"/>
              </a:rPr>
              <a:t>LARAVEL KNOWLEDGES - MEET 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11" r="0" b="-811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9567040" y="1619396"/>
            <a:ext cx="7692260" cy="0"/>
          </a:xfrm>
          <a:prstGeom prst="line">
            <a:avLst/>
          </a:prstGeom>
          <a:ln cap="flat" w="38100">
            <a:solidFill>
              <a:srgbClr val="106B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865764"/>
            <a:ext cx="1402738" cy="1392536"/>
          </a:xfrm>
          <a:custGeom>
            <a:avLst/>
            <a:gdLst/>
            <a:ahLst/>
            <a:cxnLst/>
            <a:rect r="r" b="b" t="t" l="l"/>
            <a:pathLst>
              <a:path h="1392536" w="1402738">
                <a:moveTo>
                  <a:pt x="0" y="0"/>
                </a:moveTo>
                <a:lnTo>
                  <a:pt x="1402738" y="0"/>
                </a:lnTo>
                <a:lnTo>
                  <a:pt x="1402738" y="1392536"/>
                </a:lnTo>
                <a:lnTo>
                  <a:pt x="0" y="139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32654" y="7865764"/>
            <a:ext cx="1276069" cy="1392536"/>
          </a:xfrm>
          <a:custGeom>
            <a:avLst/>
            <a:gdLst/>
            <a:ahLst/>
            <a:cxnLst/>
            <a:rect r="r" b="b" t="t" l="l"/>
            <a:pathLst>
              <a:path h="1392536" w="1276069">
                <a:moveTo>
                  <a:pt x="0" y="0"/>
                </a:moveTo>
                <a:lnTo>
                  <a:pt x="1276070" y="0"/>
                </a:lnTo>
                <a:lnTo>
                  <a:pt x="1276070" y="1392536"/>
                </a:lnTo>
                <a:lnTo>
                  <a:pt x="0" y="13925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08774" y="7865764"/>
            <a:ext cx="1384940" cy="1392536"/>
          </a:xfrm>
          <a:custGeom>
            <a:avLst/>
            <a:gdLst/>
            <a:ahLst/>
            <a:cxnLst/>
            <a:rect r="r" b="b" t="t" l="l"/>
            <a:pathLst>
              <a:path h="1392536" w="1384940">
                <a:moveTo>
                  <a:pt x="0" y="0"/>
                </a:moveTo>
                <a:lnTo>
                  <a:pt x="1384940" y="0"/>
                </a:lnTo>
                <a:lnTo>
                  <a:pt x="1384940" y="1392536"/>
                </a:lnTo>
                <a:lnTo>
                  <a:pt x="0" y="13925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2106" y="652909"/>
            <a:ext cx="1215496" cy="751582"/>
          </a:xfrm>
          <a:custGeom>
            <a:avLst/>
            <a:gdLst/>
            <a:ahLst/>
            <a:cxnLst/>
            <a:rect r="r" b="b" t="t" l="l"/>
            <a:pathLst>
              <a:path h="751582" w="1215496">
                <a:moveTo>
                  <a:pt x="0" y="0"/>
                </a:moveTo>
                <a:lnTo>
                  <a:pt x="1215497" y="0"/>
                </a:lnTo>
                <a:lnTo>
                  <a:pt x="1215497" y="751582"/>
                </a:lnTo>
                <a:lnTo>
                  <a:pt x="0" y="7515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808976"/>
            <a:ext cx="7778086" cy="252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0"/>
              </a:lnSpc>
            </a:pPr>
            <a:r>
              <a:rPr lang="en-US" sz="8325">
                <a:solidFill>
                  <a:srgbClr val="4CA1C9"/>
                </a:solidFill>
                <a:latin typeface="Roca Two"/>
                <a:ea typeface="Roca Two"/>
                <a:cs typeface="Roca Two"/>
                <a:sym typeface="Roca Two"/>
              </a:rPr>
              <a:t>Struktur</a:t>
            </a:r>
          </a:p>
          <a:p>
            <a:pPr algn="l" marL="0" indent="0" lvl="0">
              <a:lnSpc>
                <a:spcPts val="9990"/>
              </a:lnSpc>
            </a:pPr>
            <a:r>
              <a:rPr lang="en-US" sz="8325">
                <a:solidFill>
                  <a:srgbClr val="4CA1C9"/>
                </a:solidFill>
                <a:latin typeface="Roca Two"/>
                <a:ea typeface="Roca Two"/>
                <a:cs typeface="Roca Two"/>
                <a:sym typeface="Roca Two"/>
              </a:rPr>
              <a:t>Folder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67040" y="2340221"/>
            <a:ext cx="7294082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1799" spc="35">
                <a:solidFill>
                  <a:srgbClr val="4CA1C9"/>
                </a:solidFill>
                <a:latin typeface="Be Vietnam"/>
                <a:ea typeface="Be Vietnam"/>
                <a:cs typeface="Be Vietnam"/>
                <a:sym typeface="Be Vietnam"/>
              </a:rPr>
              <a:t>Di folder </a:t>
            </a:r>
            <a:r>
              <a:rPr lang="en-US" sz="1799" spc="35" b="true">
                <a:solidFill>
                  <a:srgbClr val="4CA1C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App </a:t>
            </a:r>
            <a:r>
              <a:rPr lang="en-US" sz="1799" spc="35">
                <a:solidFill>
                  <a:srgbClr val="4CA1C9"/>
                </a:solidFill>
                <a:latin typeface="Be Vietnam"/>
                <a:ea typeface="Be Vietnam"/>
                <a:cs typeface="Be Vietnam"/>
                <a:sym typeface="Be Vietnam"/>
              </a:rPr>
              <a:t>ini juga, ada folder </a:t>
            </a:r>
            <a:r>
              <a:rPr lang="en-US" sz="1799" spc="35" b="true">
                <a:solidFill>
                  <a:srgbClr val="4CA1C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Models</a:t>
            </a:r>
            <a:r>
              <a:rPr lang="en-US" sz="1799" spc="35">
                <a:solidFill>
                  <a:srgbClr val="4CA1C9"/>
                </a:solidFill>
                <a:latin typeface="Be Vietnam"/>
                <a:ea typeface="Be Vietnam"/>
                <a:cs typeface="Be Vietnam"/>
                <a:sym typeface="Be Vietnam"/>
              </a:rPr>
              <a:t>, yang digunakan untuk menampung file yang berhubungan dengan model. Nanti akan kita bahas di segmen konsep </a:t>
            </a:r>
            <a:r>
              <a:rPr lang="en-US" sz="1799" spc="35" b="true">
                <a:solidFill>
                  <a:srgbClr val="4CA1C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MVC</a:t>
            </a:r>
            <a:r>
              <a:rPr lang="en-US" sz="1799" spc="35">
                <a:solidFill>
                  <a:srgbClr val="4CA1C9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05964" y="831572"/>
            <a:ext cx="4853336" cy="35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4"/>
              </a:lnSpc>
              <a:spcBef>
                <a:spcPct val="0"/>
              </a:spcBef>
            </a:pPr>
            <a:r>
              <a:rPr lang="en-US" b="true" sz="2103">
                <a:solidFill>
                  <a:srgbClr val="4CA1C9"/>
                </a:solidFill>
                <a:latin typeface="Roca Two Bold"/>
                <a:ea typeface="Roca Two Bold"/>
                <a:cs typeface="Roca Two Bold"/>
                <a:sym typeface="Roca Two Bold"/>
              </a:rPr>
              <a:t>LARAVEL KNOWLEDGES - MEET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Laravel 11</dc:description>
  <dc:identifier>DAGqOMwDUr8</dc:identifier>
  <dcterms:modified xsi:type="dcterms:W3CDTF">2011-08-01T06:04:30Z</dcterms:modified>
  <cp:revision>1</cp:revision>
  <dc:title>Presentation - Laravel 11</dc:title>
</cp:coreProperties>
</file>